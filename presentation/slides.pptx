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400" b="1">
                <a:solidFill>
                  <a:srgbClr val="FFFFFF"/>
                </a:solidFill>
              </a:defRPr>
            </a:pPr>
            <a:r>
              <a:t>Retail Product Recommendation Using GNN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83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E8743B"/>
                </a:solidFill>
              </a:defRPr>
            </a:pPr>
            <a:r>
              <a:t>LightGCN on Amazon Reviews 2023 (Video Games)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8463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CFD6E2"/>
                </a:solidFill>
              </a:defRPr>
            </a:pPr>
            <a:r>
              <a:t>[Team member names]  |  [Enrollment numbers]</a:t>
            </a:r>
          </a:p>
          <a:p>
            <a:pPr>
              <a:spcAft>
                <a:spcPts val="1000"/>
              </a:spcAft>
              <a:defRPr sz="1800" b="0">
                <a:solidFill>
                  <a:srgbClr val="CFD6E2"/>
                </a:solidFill>
              </a:defRPr>
            </a:pPr>
            <a:r>
              <a:t>Guide: [Guide name]  |  [Institute / Department / Year]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FFFFF"/>
                </a:solidFill>
              </a:defRPr>
            </a:pPr>
            <a:r>
              <a:t>Problem: what should this customer see next?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555F6E"/>
                </a:solidFill>
              </a:defRPr>
            </a:pPr>
            <a:r>
              <a:t>•  Retail catalogues hold thousands of products; customers see a handful.</a:t>
            </a:r>
          </a:p>
          <a:p>
            <a:pPr>
              <a:spcAft>
                <a:spcPts val="1000"/>
              </a:spcAft>
              <a:defRPr sz="2200" b="0">
                <a:solidFill>
                  <a:srgbClr val="555F6E"/>
                </a:solidFill>
              </a:defRPr>
            </a:pPr>
            <a:r>
              <a:t>•  Goal: given a customer ID (or a few liked products) return a ranked list of products they are likely to want.</a:t>
            </a:r>
          </a:p>
          <a:p>
            <a:pPr>
              <a:spcAft>
                <a:spcPts val="1000"/>
              </a:spcAft>
              <a:defRPr sz="2200" b="0">
                <a:solidFill>
                  <a:srgbClr val="555F6E"/>
                </a:solidFill>
              </a:defRPr>
            </a:pPr>
            <a:r>
              <a:t>•  Signal: who bought what, and who buys like whom - naturally a graph.</a:t>
            </a:r>
          </a:p>
          <a:p>
            <a:pPr>
              <a:spcAft>
                <a:spcPts val="1000"/>
              </a:spcAft>
              <a:defRPr sz="2200" b="0">
                <a:solidFill>
                  <a:srgbClr val="555F6E"/>
                </a:solidFill>
              </a:defRPr>
            </a:pPr>
            <a:r>
              <a:t>•  Output: top-K candidates, history excluded, judged on future behaviour.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FFFFF"/>
                </a:solidFill>
              </a:defRPr>
            </a:pPr>
            <a:r>
              <a:t>Data: Amazon Reviews 2023 - Video Games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555F6E"/>
                </a:solidFill>
              </a:defRPr>
            </a:pPr>
            <a:r>
              <a:t>•  Official 5-core files, already split by timestamp: train &lt; valid &lt; test.</a:t>
            </a:r>
          </a:p>
          <a:p>
            <a:pPr>
              <a:spcAft>
                <a:spcPts val="1000"/>
              </a:spcAft>
              <a:defRPr sz="2200" b="0">
                <a:solidFill>
                  <a:srgbClr val="555F6E"/>
                </a:solidFill>
              </a:defRPr>
            </a:pPr>
            <a:r>
              <a:t>•  Rating &gt;= 4 = positive implicit interaction.</a:t>
            </a:r>
          </a:p>
          <a:p>
            <a:pPr>
              <a:spcAft>
                <a:spcPts val="1000"/>
              </a:spcAft>
              <a:defRPr sz="2200" b="0">
                <a:solidFill>
                  <a:srgbClr val="555F6E"/>
                </a:solidFill>
              </a:defRPr>
            </a:pPr>
            <a:r>
              <a:t>•  Subsample for laptop CPU: 22,269 customers, 7,811 products, 147,013 training edges.</a:t>
            </a:r>
          </a:p>
          <a:p>
            <a:pPr>
              <a:spcAft>
                <a:spcPts val="1000"/>
              </a:spcAft>
              <a:defRPr sz="2200" b="0">
                <a:solidFill>
                  <a:srgbClr val="555F6E"/>
                </a:solidFill>
              </a:defRPr>
            </a:pPr>
            <a:r>
              <a:t>•  Users with future activity kept first, so the test set is meaningful (graph still uses train edges only).</a:t>
            </a:r>
          </a:p>
          <a:p>
            <a:pPr>
              <a:spcAft>
                <a:spcPts val="1000"/>
              </a:spcAft>
              <a:defRPr sz="2200" b="0">
                <a:solidFill>
                  <a:srgbClr val="555F6E"/>
                </a:solidFill>
              </a:defRPr>
            </a:pPr>
            <a:r>
              <a:t>•  Metadata (title, category, price) used for display in the demo.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FFFFF"/>
                </a:solidFill>
              </a:defRPr>
            </a:pPr>
            <a:r>
              <a:t>Graph: customers and products as nodes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555F6E"/>
                </a:solidFill>
              </a:defRPr>
            </a:pPr>
            <a:r>
              <a:t>•  Bipartite graph; edge = positive review in the TRAINING period.</a:t>
            </a:r>
          </a:p>
          <a:p>
            <a:pPr>
              <a:spcAft>
                <a:spcPts val="1000"/>
              </a:spcAft>
              <a:defRPr sz="2200" b="0">
                <a:solidFill>
                  <a:srgbClr val="555F6E"/>
                </a:solidFill>
              </a:defRPr>
            </a:pPr>
            <a:r>
              <a:t>•  A = [[0, R], [R^T, 0]]  →  A_hat = D^-1/2 · A · D^-1/2  (sparse).</a:t>
            </a:r>
          </a:p>
          <a:p>
            <a:pPr>
              <a:spcAft>
                <a:spcPts val="1000"/>
              </a:spcAft>
              <a:defRPr sz="2200" b="0">
                <a:solidFill>
                  <a:srgbClr val="555F6E"/>
                </a:solidFill>
              </a:defRPr>
            </a:pPr>
            <a:r>
              <a:t>•  Density 0.0008; ~6.6 edges per customer, long-tailed item degrees.</a:t>
            </a:r>
          </a:p>
          <a:p>
            <a:pPr>
              <a:spcAft>
                <a:spcPts val="1000"/>
              </a:spcAft>
              <a:defRPr sz="2200" b="0">
                <a:solidFill>
                  <a:srgbClr val="555F6E"/>
                </a:solidFill>
              </a:defRPr>
            </a:pPr>
            <a:r>
              <a:t>•  No validation/test edge ever enters the graph → no leakage.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FFFFF"/>
                </a:solidFill>
              </a:defRPr>
            </a:pPr>
            <a:r>
              <a:t>Model: LightGCN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555F6E"/>
                </a:solidFill>
              </a:defRPr>
            </a:pPr>
            <a:r>
              <a:t>•  Propagate:  E(k+1) = A_hat · E(k)   - no weights, no non-linearity.</a:t>
            </a:r>
          </a:p>
          <a:p>
            <a:pPr>
              <a:spcAft>
                <a:spcPts val="1000"/>
              </a:spcAft>
              <a:defRPr sz="2200" b="0">
                <a:solidFill>
                  <a:srgbClr val="555F6E"/>
                </a:solidFill>
              </a:defRPr>
            </a:pPr>
            <a:r>
              <a:t>•  Final embedding = mean of layers 0..K  (K = 3, dim 64).</a:t>
            </a:r>
          </a:p>
          <a:p>
            <a:pPr>
              <a:spcAft>
                <a:spcPts val="1000"/>
              </a:spcAft>
              <a:defRPr sz="2200" b="0">
                <a:solidFill>
                  <a:srgbClr val="555F6E"/>
                </a:solidFill>
              </a:defRPr>
            </a:pPr>
            <a:r>
              <a:t>•  Score = dot(user, item).</a:t>
            </a:r>
          </a:p>
          <a:p>
            <a:pPr>
              <a:spcAft>
                <a:spcPts val="1000"/>
              </a:spcAft>
              <a:defRPr sz="2200" b="0">
                <a:solidFill>
                  <a:srgbClr val="555F6E"/>
                </a:solidFill>
              </a:defRPr>
            </a:pPr>
            <a:r>
              <a:t>•  Loss (BPR):  -log σ(s(u,i) - s(u,j))  + L2 on initial embeddings; Adam, early stopping on val NDCG@10.</a:t>
            </a:r>
          </a:p>
          <a:p>
            <a:pPr>
              <a:spcAft>
                <a:spcPts val="1000"/>
              </a:spcAft>
              <a:defRPr sz="2200" b="0">
                <a:solidFill>
                  <a:srgbClr val="555F6E"/>
                </a:solidFill>
              </a:defRPr>
            </a:pPr>
            <a:r>
              <a:t>•  Baselines: Popularity, and MF-BPR (same loss, no graph).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FFFFF"/>
                </a:solidFill>
              </a:defRPr>
            </a:pPr>
            <a:r>
              <a:t>Evaluation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555F6E"/>
                </a:solidFill>
              </a:defRPr>
            </a:pPr>
            <a:r>
              <a:t>•  Full ranking: score ALL products for each test customer.</a:t>
            </a:r>
          </a:p>
          <a:p>
            <a:pPr>
              <a:spcAft>
                <a:spcPts val="1000"/>
              </a:spcAft>
              <a:defRPr sz="2200" b="0">
                <a:solidFill>
                  <a:srgbClr val="555F6E"/>
                </a:solidFill>
              </a:defRPr>
            </a:pPr>
            <a:r>
              <a:t>•  Mask products already seen in train/val; take the top K = 5, 10, 20.</a:t>
            </a:r>
          </a:p>
          <a:p>
            <a:pPr>
              <a:spcAft>
                <a:spcPts val="1000"/>
              </a:spcAft>
              <a:defRPr sz="2200" b="0">
                <a:solidFill>
                  <a:srgbClr val="555F6E"/>
                </a:solidFill>
              </a:defRPr>
            </a:pPr>
            <a:r>
              <a:t>•  Precision@K, Recall@K, NDCG@K averaged over customers with test positives.</a:t>
            </a:r>
          </a:p>
          <a:p>
            <a:pPr>
              <a:spcAft>
                <a:spcPts val="1000"/>
              </a:spcAft>
              <a:defRPr sz="2200" b="0">
                <a:solidFill>
                  <a:srgbClr val="555F6E"/>
                </a:solidFill>
              </a:defRPr>
            </a:pPr>
            <a:r>
              <a:t>•  2,111 test customers; metrics unit-tested on hand-computed cases.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FFFFF"/>
                </a:solidFill>
              </a:defRPr>
            </a:pPr>
            <a:r>
              <a:t>Results (test set)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1463040"/>
          <a:ext cx="996696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1740"/>
                <a:gridCol w="2491740"/>
                <a:gridCol w="2491740"/>
                <a:gridCol w="2491740"/>
              </a:tblGrid>
              <a:tr h="518160">
                <a:tc>
                  <a:txBody>
                    <a:bodyPr/>
                    <a:lstStyle/>
                    <a:p>
                      <a:pPr>
                        <a:defRPr sz="2000" b="1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 b="1"/>
                      </a:pPr>
                      <a:r>
                        <a:t>Popularity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 b="1"/>
                      </a:pPr>
                      <a:r>
                        <a:t>MF-BPR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 b="1"/>
                      </a:pPr>
                      <a:r>
                        <a:t>LightGCN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2000" b="0"/>
                      </a:pPr>
                      <a:r>
                        <a:t>NDCG@10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 b="0"/>
                      </a:pPr>
                      <a:r>
                        <a:t>0.0113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 b="0"/>
                      </a:pPr>
                      <a:r>
                        <a:t>0.0042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 b="1"/>
                      </a:pPr>
                      <a:r>
                        <a:t>0.0167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2000" b="0"/>
                      </a:pPr>
                      <a:r>
                        <a:t>RECALL@10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 b="0"/>
                      </a:pPr>
                      <a:r>
                        <a:t>0.0224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 b="0"/>
                      </a:pPr>
                      <a:r>
                        <a:t>0.0083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 b="1"/>
                      </a:pPr>
                      <a:r>
                        <a:t>0.0296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2000" b="0"/>
                      </a:pPr>
                      <a:r>
                        <a:t>PRECISION@10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 b="0"/>
                      </a:pPr>
                      <a:r>
                        <a:t>0.0033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 b="0"/>
                      </a:pPr>
                      <a:r>
                        <a:t>0.0014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 b="1"/>
                      </a:pPr>
                      <a:r>
                        <a:t>0.0046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2000" b="0"/>
                      </a:pPr>
                      <a:r>
                        <a:t>NDCG@20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 b="0"/>
                      </a:pPr>
                      <a:r>
                        <a:t>0.0157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 b="0"/>
                      </a:pPr>
                      <a:r>
                        <a:t>0.0060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 b="1"/>
                      </a:pPr>
                      <a:r>
                        <a:t>0.0217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2000" b="0"/>
                      </a:pPr>
                      <a:r>
                        <a:t>RECALL@20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 b="0"/>
                      </a:pPr>
                      <a:r>
                        <a:t>0.0384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 b="0"/>
                      </a:pPr>
                      <a:r>
                        <a:t>0.0146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 b="1"/>
                      </a:pPr>
                      <a:r>
                        <a:t>0.0478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97280" y="49377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555F6E"/>
                </a:solidFill>
              </a:defRPr>
            </a:pPr>
            <a:r>
              <a:t>LightGCN is best on every metric: NDCG@10 is 47% above popularity. Absolute scores are low (sparse data, future period); one seed, so small gaps are indicative only.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FFFFF"/>
                </a:solidFill>
              </a:defRPr>
            </a:pPr>
            <a:r>
              <a:t>Comparison and training behaviour</a:t>
            </a:r>
          </a:p>
        </p:txBody>
      </p:sp>
      <p:pic>
        <p:nvPicPr>
          <p:cNvPr id="4" name="Picture 3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6949440" cy="2138289"/>
          </a:xfrm>
          <a:prstGeom prst="rect">
            <a:avLst/>
          </a:prstGeom>
        </p:spPr>
      </p:pic>
      <p:pic>
        <p:nvPicPr>
          <p:cNvPr id="5" name="Picture 4" descr="training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371600"/>
            <a:ext cx="4572000" cy="1737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20624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555F6E"/>
                </a:solidFill>
              </a:defRPr>
            </a:pPr>
            <a:r>
              <a:t>MF-BPR overfits: loss falls, validation NDCG stalls - too little data per customer for a free vector.</a:t>
            </a:r>
          </a:p>
          <a:p>
            <a:pPr>
              <a:spcAft>
                <a:spcPts val="1000"/>
              </a:spcAft>
              <a:defRPr sz="1800" b="0">
                <a:solidFill>
                  <a:srgbClr val="555F6E"/>
                </a:solidFill>
              </a:defRPr>
            </a:pPr>
            <a:r>
              <a:t>LightGCN's neighbourhood averaging smooths sparse customers and generalises better (our interpretation; no ablation run).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FFFFF"/>
                </a:solidFill>
              </a:defRPr>
            </a:pPr>
            <a:r>
              <a:t>Live demo (Streamlit)</a:t>
            </a:r>
          </a:p>
        </p:txBody>
      </p:sp>
      <p:pic>
        <p:nvPicPr>
          <p:cNvPr id="4" name="Picture 3" descr="app_ta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669280" cy="3779520"/>
          </a:xfrm>
          <a:prstGeom prst="rect">
            <a:avLst/>
          </a:prstGeom>
        </p:spPr>
      </p:pic>
      <p:pic>
        <p:nvPicPr>
          <p:cNvPr id="5" name="Picture 4" descr="app_ta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188720"/>
            <a:ext cx="5669280" cy="3779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3949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555F6E"/>
                </a:solidFill>
              </a:defRPr>
            </a:pPr>
            <a:r>
              <a:t>Left: customer ID → past purchases next to recommendations.   Right: cold start - pick products, average their embeddings, rank the rest.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FFFFF"/>
                </a:solidFill>
              </a:defRPr>
            </a:pPr>
            <a:r>
              <a:t>Limitations and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555F6E"/>
                </a:solidFill>
              </a:defRPr>
            </a:pPr>
            <a:r>
              <a:t>•  One category, subsampled; single seed, no confidence intervals.</a:t>
            </a:r>
          </a:p>
          <a:p>
            <a:pPr>
              <a:spcAft>
                <a:spcPts val="1000"/>
              </a:spcAft>
              <a:defRPr sz="2200" b="0">
                <a:solidFill>
                  <a:srgbClr val="555F6E"/>
                </a:solidFill>
              </a:defRPr>
            </a:pPr>
            <a:r>
              <a:t>•  Only interaction edges used - no text, category or price features yet.</a:t>
            </a:r>
          </a:p>
          <a:p>
            <a:pPr>
              <a:spcAft>
                <a:spcPts val="1000"/>
              </a:spcAft>
              <a:defRPr sz="2200" b="0">
                <a:solidFill>
                  <a:srgbClr val="555F6E"/>
                </a:solidFill>
              </a:defRPr>
            </a:pPr>
            <a:r>
              <a:t>•  Cold-start works for new customers, not for brand-new products.</a:t>
            </a:r>
          </a:p>
          <a:p>
            <a:pPr>
              <a:spcAft>
                <a:spcPts val="1000"/>
              </a:spcAft>
              <a:defRPr sz="2200" b="0">
                <a:solidFill>
                  <a:srgbClr val="555F6E"/>
                </a:solidFill>
              </a:defRPr>
            </a:pPr>
            <a:r>
              <a:t>•  Next: side-information features, hard negatives, multi-seed evaluation, other graph models, full-data run.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555F6E"/>
                </a:solidFill>
              </a:defRPr>
            </a:pPr>
            <a:r>
              <a:t>•  End-to-end graph recommender: data → graph → LightGCN → evaluation → app.</a:t>
            </a:r>
          </a:p>
          <a:p>
            <a:pPr>
              <a:spcAft>
                <a:spcPts val="1000"/>
              </a:spcAft>
              <a:defRPr sz="2400" b="0">
                <a:solidFill>
                  <a:srgbClr val="555F6E"/>
                </a:solidFill>
              </a:defRPr>
            </a:pPr>
            <a:r>
              <a:t>•  Leakage-free temporal protocol with full-ranking metrics.</a:t>
            </a:r>
          </a:p>
          <a:p>
            <a:pPr>
              <a:spcAft>
                <a:spcPts val="1000"/>
              </a:spcAft>
              <a:defRPr sz="2400" b="0">
                <a:solidFill>
                  <a:srgbClr val="555F6E"/>
                </a:solidFill>
              </a:defRPr>
            </a:pPr>
            <a:r>
              <a:t>•  LightGCN beat Popularity and MF-BPR (NDCG@10 0.0167 vs 0.0113 / 0.0042).</a:t>
            </a:r>
          </a:p>
          <a:p>
            <a:pPr>
              <a:spcAft>
                <a:spcPts val="1000"/>
              </a:spcAft>
              <a:defRPr sz="2400" b="0">
                <a:solidFill>
                  <a:srgbClr val="555F6E"/>
                </a:solidFill>
              </a:defRPr>
            </a:pPr>
            <a:r>
              <a:t>•  Thank you -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